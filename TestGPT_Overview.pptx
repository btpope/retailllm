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5029200" cy="32004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TG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5661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F8EF7"/>
                </a:solidFill>
              </a:rPr>
              <a:t>TestGPT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BBF"/>
                </a:solidFill>
              </a:rPr>
              <a:t>DecisionFrame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7373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AI Analyst Agent
for CPG Retail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0D8EA"/>
                </a:solidFill>
              </a:rPr>
              <a:t>Ask your data a question. Get an expert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749039"/>
            <a:ext cx="6492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0">
                <a:solidFill>
                  <a:srgbClr val="D0D8EA"/>
                </a:solidFill>
              </a:rPr>
              <a:t>  Walmart-focused CPG analytics platform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D0D8EA"/>
                </a:solidFill>
              </a:rPr>
              <a:t>  Conversational AI with deep retail semantics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D0D8EA"/>
                </a:solidFill>
              </a:rPr>
              <a:t>  Benchmark intelligence + trend signals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D0D8EA"/>
                </a:solidFill>
              </a:rPr>
              <a:t>  Multi-turn memory + proactive alerts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D0D8EA"/>
                </a:solidFill>
              </a:rPr>
              <a:t>  Full Human-in-the-Loop (HITL) safety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6126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</a:rPr>
              <a:t>⚠  Prototype — All data is synthetic (DEMO ONLY)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TestGPT?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An AI analyst purpose-built for CPG brands selling at Walmart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5303520" cy="23774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5303520" cy="347472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612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</a:rPr>
              <a:t>❌  The Old 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72768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</a:rPr>
              <a:t>Static dashboards that need manual interpretation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</a:rPr>
              <a:t>Analyst must know which reports to pull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</a:rPr>
              <a:t>Walmart context lives only in senior team members' heads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</a:rPr>
              <a:t>Hours per week building slides from spreadsheets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</a:rPr>
              <a:t>Delayed decisions = missed velocity, OOS surprises, lost JBP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143000"/>
            <a:ext cx="5303520" cy="23774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143000"/>
            <a:ext cx="5303520" cy="3474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1612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✅  TestGPT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572768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</a:rPr>
              <a:t>Ask any business question in plain English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</a:rPr>
              <a:t>Expert Walmart context baked in — no training required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</a:rPr>
              <a:t>Real KPIs, benchmarks, and trend signals in seconds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</a:rPr>
              <a:t>Charts generated automatically with your data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</a:rPr>
              <a:t>HITL gates — nothing sent without your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8EF7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11155680" cy="27432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21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Example questions TestGPT answers today: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69080"/>
            <a:ext cx="2743200" cy="4572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069080"/>
            <a:ext cx="54864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A"/>
                </a:solidFill>
              </a:rPr>
              <a:t>How is my business?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4069080"/>
            <a:ext cx="2743200" cy="4572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4069080"/>
            <a:ext cx="54864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1605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A"/>
                </a:solidFill>
              </a:rPr>
              <a:t>Which SKUs are at delistment risk?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069080"/>
            <a:ext cx="2743200" cy="4572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069080"/>
            <a:ext cx="54864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1605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A"/>
                </a:solidFill>
              </a:rPr>
              <a:t>What's our OTIF trend this quarter?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63440"/>
            <a:ext cx="2743200" cy="4572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663440"/>
            <a:ext cx="54864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54879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A"/>
                </a:solidFill>
              </a:rPr>
              <a:t>Show me velocity by SKU as a chart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4663440"/>
            <a:ext cx="2743200" cy="4572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4663440"/>
            <a:ext cx="54864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754879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A"/>
                </a:solidFill>
              </a:rPr>
              <a:t>Is our OOS rate good or bad vs benchmarks?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4663440"/>
            <a:ext cx="2743200" cy="4572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4663440"/>
            <a:ext cx="54864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754879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A"/>
                </a:solidFill>
              </a:rPr>
              <a:t>What happened to Bolt velocity last 4 weeks?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Prototype stack — Python · FastAPI · SQLite · Anthropic Claude · Vega-Lite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1737360" cy="118872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1737360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Browser
Chat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</a:rPr>
              <a:t>index.html
vega-embed CDN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560320"/>
            <a:ext cx="1737360" cy="11887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2560320"/>
            <a:ext cx="1737360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26517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FastAPI
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2461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</a:rPr>
              <a:t>api/main.py
/chat /issues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560320"/>
            <a:ext cx="1737360" cy="11887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560320"/>
            <a:ext cx="1737360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6517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Agent
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2461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</a:rPr>
              <a:t>testgpt_agent.py
Tool 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560320"/>
            <a:ext cx="1737360" cy="118872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560320"/>
            <a:ext cx="1737360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26517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Claude
Sonnet 4.6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32461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</a:rPr>
              <a:t>Anthropic API
Tool 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560320"/>
            <a:ext cx="1737360" cy="11887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560320"/>
            <a:ext cx="1737360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6517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
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2461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</a:rPr>
              <a:t>SQLite
8 tables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95560" y="2560320"/>
            <a:ext cx="1737360" cy="11887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95560" y="2560320"/>
            <a:ext cx="1737360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6517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Semantic
Knowledge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32461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</a:rPr>
              <a:t>System prompt
Benchmarks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8EF7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8EF7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8EF7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8EF7"/>
                </a:solidFill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8EF7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977639"/>
            <a:ext cx="11338560" cy="27432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995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7"/>
                </a:solidFill>
              </a:rPr>
              <a:t>11 Agent Tools  (priority order: get_metric → get_benchmark → get_trend_analysis → generate_vega_chart → execute_sql)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389120"/>
            <a:ext cx="1828800" cy="7315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45312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get_metric
(metric store lookup)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04288" y="4389120"/>
            <a:ext cx="1828800" cy="7315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95728" y="445312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get_benchmark
(tier + Walmart threshold)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42816" y="4389120"/>
            <a:ext cx="1828800" cy="7315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34256" y="445312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get_trend_analysis
(L4W/L13W/L52W signals)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1344" y="4389120"/>
            <a:ext cx="1828800" cy="7315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2784" y="445312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generate_vega_chart
(Vega-Lite spec builder)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19872" y="4389120"/>
            <a:ext cx="1828800" cy="7315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11312" y="445312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get_promo_calendar
(promo schedule + ROI)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58400" y="4389120"/>
            <a:ext cx="1828800" cy="7315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49840" y="445312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get_retailer_account
(JBP scorecard)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257800"/>
            <a:ext cx="2103120" cy="685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32180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get_business_summary
(full dashboard fallback)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96896" y="5257800"/>
            <a:ext cx="2103120" cy="685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88336" y="532180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get_kpi_card
(single metric fallback)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28032" y="5257800"/>
            <a:ext cx="2103120" cy="685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19472" y="532180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execute_sql
(ad-hoc SQL, last resort)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9168" y="5257800"/>
            <a:ext cx="2103120" cy="685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50608" y="532180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flag_issue
(surface KPI anomaly)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90304" y="5257800"/>
            <a:ext cx="2103120" cy="685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81744" y="532180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send_for_approval
(HITL gate)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1 — Core Analytics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Working agent · Real data layer · End-to-end /chat endpoint  ✅ 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280160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338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349240" cy="4114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0876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4533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Data Model &amp; Seeding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74519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SQLite prototype DB (SQLAlchemy ORM, DB_URL swappable for production)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sales_kpi_weekly: 16,800 rows — 112 weeks × 30 SKUs × 5 Walmart regions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promo_calendar: 60 events with lift%, ROI, type, cannibalization flag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kpi_alert_log: 120 open alerts (OOS_BREACH, VELOCITY_DECLINE, etc.)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retailer_account_scorecard: 27 rows — quarterly JBP tracking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user_preferences: 5 test users with scope (brand, retailer, period, role)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08760"/>
            <a:ext cx="5349240" cy="4114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50876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4533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Agent + Tool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874519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FastAPI /chat endpoint with multi-turn session support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TestGPTAgent: Claude tool use loop with max 10 iterations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execute_sql: read-only enforced (_assert_readonly checks all queries)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generate_vega_chart: 5 chart types; auto field type detection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get_kpi_card: metric aggregation with delta% and trend signal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get_business_summary: full KPI dashboard ranked by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760720"/>
            <a:ext cx="10881360" cy="59436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760720"/>
            <a:ext cx="54864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806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⚡  Speed Optimization (added with Phase 1):  Pre-fetch business summary from DB before first Claude call. Injects KPI context + open alerts as user+assistant message pair — eliminates 2 API round-trips. Reduced avg response time from ~23s → ~10–12s.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1 — Pre-Computed Metric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Crisp-style metric layer: consistent definitions, zero SQL hallucination, fast lookups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Problem: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A"/>
                </a:solidFill>
              </a:rPr>
              <a:t>LLMs generating ad-hoc SQL for every metric question produced inconsistent results, slow responses, and occasional hallucinated aggregations.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Problem: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00200"/>
            <a:ext cx="11247120" cy="36576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27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Solution: metric_store table — 136 pre-computed rows seeded at build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03120"/>
            <a:ext cx="5577840" cy="1828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103120"/>
            <a:ext cx="55778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39696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Period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68879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L4W (Last 4 Weeks)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L13W (Last 13 Weeks)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L52W (Last 52 Weeks)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YTD (Year-to-Date)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103120"/>
            <a:ext cx="5577840" cy="1828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03120"/>
            <a:ext cx="55778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39696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Grains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79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Total brand level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Per-brand breakdown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Per-SKU breakdown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14800"/>
            <a:ext cx="5577840" cy="1828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114800"/>
            <a:ext cx="55778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51376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Velocity (U/S/W)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Revenue ($)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OOS Rate (%)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Promo ROI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YoY Growth (%)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ACV Distribution (%)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114800"/>
            <a:ext cx="5577840" cy="1828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114800"/>
            <a:ext cx="55778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51376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Output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80560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current_value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prior_value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delta_pct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trend signal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data_points_count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anchor_date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126480"/>
            <a:ext cx="11247120" cy="5029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1539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get_metric tool always runs first.  Returns pre-computed value with context annotation (e.g. 'Apex velocity 6.2 U/S/W L4W — STRONG tier, +8% vs L13W').  Claude never writes SQL for standard KPI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2 — Benchmark Intelligence + Trend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Expert CPG benchmarks · Multi-window trend signals · Supply chain data  ✅ 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280160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338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349240" cy="23317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0876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4533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get_benchmark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74519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Compares any KPI to benchmark_reference table (9 configs)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Returns tier: WEAK / AVERAGE / STRONG / ELITE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Gap to average midpoint + gap to STRONG threshold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Walmart threshold status: ABOVE / BELOW + penalty language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Action recommendation text for WEAK tier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Velocity benchmarks are brand-specific (Apex ≠ Bolt ≠ Silke)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08760"/>
            <a:ext cx="5349240" cy="23317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50876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4533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get_trend_analysis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874519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Multi-window comparison: L4W vs L13W vs L52W side-by-side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Short-term signal: ACCELERATING / STABLE / DECELERATING (±5% threshold)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Long-term signal: IMPROVING / FLAT / DECLINING (±3% threshold)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Line Review Risk: HIGH / MEDIUM / LOW (tied to Feb/Aug reset cycle)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OOS Escalation flag: CRITICAL (&gt;8%) / ELEVATED (&gt;5%)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Runs for any metric, grain (brand/SKU/total), and period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31920"/>
            <a:ext cx="5349240" cy="22860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6849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supply_chain_weekly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336 rows — 112 weeks × 3 brands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otif_rate_pct — On-Time In-Full % (vs 98% Walmart target)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dc_fill_rate_pct — DC Fill Rate (vs 97% threshold)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on_time_delivery_pct + in_full_delivery_pct (OTIF components)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chargebacks_dollars — 3% COGS fine when OTIF &lt; 95%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compliance_score — SQEP packaging compliance 0–100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931920"/>
            <a:ext cx="5349240" cy="22860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393192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96849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benchmark_reference Table (9 configs)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2976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velocity — brand-specific (Apex / Bolt / Silke separately)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oos_rate — 3 Walmart thresholds (monitoring / replenishment / delistment)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promo_roi — breakeven at 1.0x; losing money below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promo_lift — by category (snacks 30–50% avg, energy 40–70%)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otif — 98% target; 3% COGS fine below 95%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dc_fill_rate, acv, yoy_growth — all with tier + Walmart thresholds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3 — Multi-Turn Memory + Proactive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Conversation persistence · Open Alerts · HITL Approval Panel  ✅ 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280160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338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349240" cy="22860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0876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4533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Multi-Turn Conversation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745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_agent_sessions dict — preserves TestGPTAgent instance per session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Pre-fetch brief injected ONCE on first turn (_brief_injected flag)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Brief = KPI summary + top 3 open alerts — eliminates 2 extra API calls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_trim_history(): caps at 12 exchange pairs; trims to 8 when exceeded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Brief+ack prefix always preserved — agent never loses context window anchor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agent.session = db refreshed per request (prevents stale SQLAlchemy sessions)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08760"/>
            <a:ext cx="5349240" cy="22860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50876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4533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Context Resolution (System Prompt Rules)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8745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"What about L13W?" → same metric re-run for L13W period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"Show me a chart of that" → Vega spec from prior answer data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"Which one is worst?" → ranks entities from previous response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"Drill into Bolt" → re-runs analysis scoped to Bolt only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"Compare to last year" → YoY line chart with color_field=year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Persona depth adapts: exec (2–3 bullets) vs analyst (full narrative)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31920"/>
            <a:ext cx="5349240" cy="22860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6849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Open Alerts Sidebar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Loads from /issues endpoint post-login and on user change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Color-coded severity: 🔴 HIGH · 🟡 MEDIUM · ⚪ LOW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Badge shows count of open alerts for current user scope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Click any alert to fire it directly into the chat as a question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Powered by kpi_alert_log table (120 seeded alerts)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Alert text from root_cause_narrative field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931920"/>
            <a:ext cx="5349240" cy="22860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393192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96849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HITL Approval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2976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send_for_approval tool fires when agent wants outbound action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pending_approval in response triggers UI panel render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Panel shows: action description + to/subject/body preview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User clicks ✅ Approve or ✗ Cancel — both fire back into chat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No email, assignment, or publish ever executes without approval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Approval flow stub in /approve endpoint (Step 4: full execution)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Walmart Semantic Knowledge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Deep CPG + Walmart operational expertise baked into the system prompt (Phase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3520440" cy="27432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97280"/>
            <a:ext cx="35204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13385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Buying &amp; Merchandising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Buyer / DMM / VP chain and decision authority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Line Review: Feb + Aug (semi-annual planogram resets)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New item ramp: must hit ≥50% category avg by week 13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JBP: annual volume/promo/investment commitments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Category Captain: highest-share brand shapes planogram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Modular reset timing and implications for distribution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097280"/>
            <a:ext cx="3520440" cy="27432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097280"/>
            <a:ext cx="35204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13385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Supply Chain Mechanics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4630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OTIF: ≥98% target | &lt;95% = 3% COGS fine per PO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DC fill rate vs store OOS — completely different root causes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Phantom inventory: system shows stock, shelf is empty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Auto-replenishment: Walmart system-generated POs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VNPK/WHPK mismatches → fill rate issues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SQEP: supplier packaging compliance scoring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097280"/>
            <a:ext cx="3520440" cy="27432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097280"/>
            <a:ext cx="35204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13385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Key Thresholds Baked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4630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OOS: &lt;3% ✅ | 3-5% monitor | 5-8% 🟡 | 8-12% 🔴 | &gt;12% delistment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OTIF: ≥98% compliant | &lt;95% = fine starts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DC Fill: ≥97% good | &lt;93% critical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Promo ROI: 1.0x = breakeven; &lt;1.0x = losing money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ACV: ≥85% = full national; &lt;50% = limited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Velocity new item: hit 50% of avg by week 13 or at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1120140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050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Velocity Benchmarks by Brand (U/S/W — Units Per Store Per Week)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43400"/>
            <a:ext cx="2834640" cy="3200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43616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Brand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343400"/>
            <a:ext cx="1737360" cy="32004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436168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WEAK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59" y="4343400"/>
            <a:ext cx="2011680" cy="32004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9512" y="43616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AVERAGE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59" y="4343400"/>
            <a:ext cx="2011680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96912" y="43616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STRONG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4343400"/>
            <a:ext cx="1737360" cy="320040"/>
          </a:xfrm>
          <a:prstGeom prst="rect">
            <a:avLst/>
          </a:prstGeom>
          <a:solidFill>
            <a:srgbClr val="06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54312" y="436168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ELITE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709160"/>
            <a:ext cx="2834640" cy="402336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736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Apex  (Salty Snacks)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4709160"/>
            <a:ext cx="1737360" cy="402336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4736592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&lt; 3.0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359" y="4709160"/>
            <a:ext cx="2011680" cy="402336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9512" y="47365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3.0 – 6.0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59" y="4709160"/>
            <a:ext cx="2011680" cy="402336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96912" y="47365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6.0 – 10.0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4709160"/>
            <a:ext cx="1737360" cy="402336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54312" y="4736592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&gt; 10.0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148072"/>
            <a:ext cx="2834640" cy="402336"/>
          </a:xfrm>
          <a:prstGeom prst="rect">
            <a:avLst/>
          </a:prstGeom>
          <a:solidFill>
            <a:srgbClr val="16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51755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Bolt  (Energy Drinks)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5148072"/>
            <a:ext cx="1737360" cy="402336"/>
          </a:xfrm>
          <a:prstGeom prst="rect">
            <a:avLst/>
          </a:prstGeom>
          <a:solidFill>
            <a:srgbClr val="16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6432" y="5175504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&lt; 5.0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66359" y="5148072"/>
            <a:ext cx="2011680" cy="402336"/>
          </a:xfrm>
          <a:prstGeom prst="rect">
            <a:avLst/>
          </a:prstGeom>
          <a:solidFill>
            <a:srgbClr val="16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39512" y="51755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5.0 – 10.0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59" y="5148072"/>
            <a:ext cx="2011680" cy="402336"/>
          </a:xfrm>
          <a:prstGeom prst="rect">
            <a:avLst/>
          </a:prstGeom>
          <a:solidFill>
            <a:srgbClr val="16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96912" y="51755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10.0 – 16.0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5148072"/>
            <a:ext cx="1737360" cy="402336"/>
          </a:xfrm>
          <a:prstGeom prst="rect">
            <a:avLst/>
          </a:prstGeom>
          <a:solidFill>
            <a:srgbClr val="16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54312" y="5175504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&gt; 16.0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586984"/>
            <a:ext cx="2834640" cy="402336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56144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Silke  (Hair Care)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83280" y="5586984"/>
            <a:ext cx="1737360" cy="402336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56432" y="5614416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&lt; 1.5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66359" y="5586984"/>
            <a:ext cx="2011680" cy="402336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39512" y="56144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1.5 – 3.0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23759" y="5586984"/>
            <a:ext cx="2011680" cy="402336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96912" y="56144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3.0 – 5.0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81160" y="5586984"/>
            <a:ext cx="1737360" cy="402336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54312" y="5614416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A"/>
                </a:solidFill>
              </a:rPr>
              <a:t>&gt; 5.0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Techniques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How TestGPT combines semantic knowledge, tool augmentation, and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3520440" cy="2834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97280"/>
            <a:ext cx="35204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13385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🧠  Semantic Layer
(Grounded LLM)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Walmart + CPG expertise hard-coded in system prompt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Agent answers with domain-correct context automatically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No need to 'teach' users about OTIF, line reviews, or velocity benchmarks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Benchmarks embedded as structured tables (benchmark_reference)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8 interpretation rules: every signal → specific Walmart language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Confidence labels on every response (HIGH / MEDIUM / FLAG)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097280"/>
            <a:ext cx="3520440" cy="2834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097280"/>
            <a:ext cx="35204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13385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📚  Tool Augmentation
(≈ RAG for structured 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4630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LLM retrieves data via tools — not from training knowledge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Pre-computed metric store replaces ad-hoc SQL (consistent, fast)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get_benchmark fetches category thresholds at query time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get_trend_analysis computes L4W/L13W/L52W from live DB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11 specialized tools vs 1 generic SQL call — reduces hallucination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Tools are the 'retrieval' step; Claude is the 'generation' step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097280"/>
            <a:ext cx="3520440" cy="2834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097280"/>
            <a:ext cx="35204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13385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💬  Conversation Memory
(Session Context Window)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4630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Server-side session dict preserves agent between turns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Pre-fetch brief injected once: KPI summary + alerts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History trimmed to 12 pairs; brief always preserved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Context resolution rules let users use natural follow-ups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Role-aware: exec gets bullets, analyst gets full narrative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D0D8EA"/>
                </a:solidFill>
              </a:rPr>
              <a:t>▸ Stale DB session refresh prevents silent SQLAlchemy failures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14800"/>
            <a:ext cx="1120140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422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How TestGPT compares to pure RAG systems: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5394960" cy="5029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6360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BF"/>
                </a:solidFill>
              </a:rPr>
              <a:t>Pure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663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Retrieves text chunks from docs; relies on text similarity matching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572000"/>
            <a:ext cx="5394960" cy="5029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6360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TestGPT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663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Retrieves structured DB rows via typed tools; uses semantic layer + context rules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66360"/>
            <a:ext cx="5394960" cy="5029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230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BF"/>
                </a:solidFill>
              </a:rPr>
              <a:t>Fine-tuning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257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Bakes knowledge into model weights; costly to update; TestGPT uses prompt + tools instead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166360"/>
            <a:ext cx="5394960" cy="5029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230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BF"/>
                </a:solidFill>
              </a:rPr>
              <a:t>Classic 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5257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Static queries; no natural language; no interpretation; no proactive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Prototype: SQLite + pre-computed metric store  →  Production: Databricks Delta Lake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201400" cy="347472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2471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7"/>
                </a:solidFill>
              </a:rPr>
              <a:t>Database Schema — 8 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90472"/>
            <a:ext cx="3200400" cy="27432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50876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7"/>
                </a:solidFill>
              </a:rPr>
              <a:t>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490472"/>
            <a:ext cx="822960" cy="27432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150876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7"/>
                </a:solidFill>
              </a:rPr>
              <a:t>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490472"/>
            <a:ext cx="6949440" cy="27432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1508760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7"/>
                </a:solidFill>
              </a:rPr>
              <a:t>Description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801368"/>
            <a:ext cx="320040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182880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59A8"/>
                </a:solidFill>
              </a:rPr>
              <a:t>sales_kpi_weekly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1801368"/>
            <a:ext cx="82296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7912" y="1828800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16,800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801368"/>
            <a:ext cx="694944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1828800"/>
            <a:ext cx="6839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Weekly KPIs by SKU × Region × Week. Primary fact table.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249424"/>
            <a:ext cx="320040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227685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8EF7"/>
                </a:solidFill>
              </a:rPr>
              <a:t>metric_store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2249424"/>
            <a:ext cx="82296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67912" y="2276856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136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2249424"/>
            <a:ext cx="694944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2312" y="2276856"/>
            <a:ext cx="6839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Pre-computed L4W/L13W/L52W/YTD × brand/SKU/total grains.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697480"/>
            <a:ext cx="320040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2724912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8EF7"/>
                </a:solidFill>
              </a:rPr>
              <a:t>benchmark_reference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2697480"/>
            <a:ext cx="82296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67912" y="2724912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2697480"/>
            <a:ext cx="694944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82312" y="2724912"/>
            <a:ext cx="6839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Category benchmarks + Walmart thresholds. 4 tiers per metric.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145536"/>
            <a:ext cx="320040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3172968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8EF7"/>
                </a:solidFill>
              </a:rPr>
              <a:t>supply_chain_weekly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4760" y="3145536"/>
            <a:ext cx="82296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67912" y="3172968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336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3145536"/>
            <a:ext cx="694944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82312" y="3172968"/>
            <a:ext cx="6839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Weekly OTIF, DC fill, chargebacks, SQEP compliance by brand.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593591"/>
            <a:ext cx="320040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3621024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promo_calendar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94760" y="3593591"/>
            <a:ext cx="82296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67912" y="3621024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3593591"/>
            <a:ext cx="694944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82312" y="3621024"/>
            <a:ext cx="6839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Promo events: type, depth, lift%, ROI, cannibalization flag.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041648"/>
            <a:ext cx="320040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" y="406908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kpi_alert_log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94760" y="4041648"/>
            <a:ext cx="82296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67912" y="4069080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120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4041648"/>
            <a:ext cx="694944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82312" y="4069080"/>
            <a:ext cx="6839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Open KPI alerts with severity, root cause narrative, status.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489704"/>
            <a:ext cx="320040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451713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retailer_account_scorecard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94760" y="4489704"/>
            <a:ext cx="82296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67912" y="4517136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27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4489704"/>
            <a:ext cx="694944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82312" y="4517136"/>
            <a:ext cx="6839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Quarterly JBP scorecards: vol/promo/investment vs commitment.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937759"/>
            <a:ext cx="320040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" y="4965192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user_preferences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94760" y="4937759"/>
            <a:ext cx="82296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67912" y="4965192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09160" y="4937759"/>
            <a:ext cx="6949440" cy="420624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82312" y="4965192"/>
            <a:ext cx="6839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A"/>
                </a:solidFill>
              </a:rPr>
              <a:t>Test users: role, brand scope, retailer scope, default period.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Prototype running on BigB VPS · Docker · Traefik · Hostinger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5349240" cy="2834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9728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13385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Runtime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BigB VPS — Hostinger cloud (Ubuntu 24.04.4, Kernel 6.8.0-94)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Docker 29.3 + Compose v5.1 (multi-service stack)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Container: n8n-testgpt-1 · FastAPI on port 8000 (internal)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Traefik reverse proxy — auto SSL via Let's Encrypt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Host rule: testgpt.srv1445355.hstgr.cloud → port 8000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ANTHROPIC_API_KEY via Compose .env (same key as n8n stack)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ANALYST_MODEL=claude-sonnet-4-6 · TESTGPT_API_KEY=testgpt2026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097280"/>
            <a:ext cx="5349240" cy="2834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097280"/>
            <a:ext cx="534924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13385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Deploy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46304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1. git push to btpope/RetailLLM master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2. sudo git -C /root/retailgpt pull (on BigB)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Hot-copy (HTML only): docker cp + no restart needed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Hot-copy (Python): docker cp + docker restart n8n-testgpt-1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Full rebuild: docker compose build --no-cache testgpt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then: docker compose up -d testgpt (in /docker/n8n/)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SQLite DB seeded at image build time by Node.js generator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69080"/>
            <a:ext cx="1120140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9651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BigB Docker Stack (co-located services)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80560"/>
            <a:ext cx="5486400" cy="548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80560"/>
            <a:ext cx="54864" cy="54864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171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59A8"/>
                </a:solidFill>
              </a:rPr>
              <a:t>n8n-n8n-1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53542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n8n 2.9.4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8231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22 workflows: PamCom, briefing, email routing, security 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480560"/>
            <a:ext cx="5486400" cy="548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480560"/>
            <a:ext cx="54864" cy="54864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5171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59A8"/>
                </a:solidFill>
              </a:rPr>
              <a:t>n8n-standup-1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53542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Node.js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78231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PamCom, Publisher, Report dashboard, Command Center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20640"/>
            <a:ext cx="5486400" cy="548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120640"/>
            <a:ext cx="54864" cy="5486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572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n8n-testgpt-1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51755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Python 3.11 + FastAPI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422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TestGPT AI analyst agent (this service)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120640"/>
            <a:ext cx="5486400" cy="548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5120640"/>
            <a:ext cx="54864" cy="548640"/>
          </a:xfrm>
          <a:prstGeom prst="rect">
            <a:avLst/>
          </a:prstGeom>
          <a:solidFill>
            <a:srgbClr val="8A9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51572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BF"/>
                </a:solidFill>
              </a:rPr>
              <a:t>n8n-traefik-1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1755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Traefik 2.x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422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Reverse proxy + SSL termination for all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Prototype vs Production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Designed for Engine integration from day one — swap 3 components to go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256032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155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097280"/>
            <a:ext cx="425196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1155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Prototype (Today)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097280"/>
            <a:ext cx="425196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1155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Production (Engine)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63040"/>
            <a:ext cx="256032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49047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Language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1463040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4904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39C12"/>
                </a:solidFill>
              </a:rPr>
              <a:t>Python 3.11 + FastAPI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463040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14904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C# / .NET (Engine-native stack)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901952"/>
            <a:ext cx="256032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192938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1901952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19293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39C12"/>
                </a:solidFill>
              </a:rPr>
              <a:t>SQLite + SQLAlchemy 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1901952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19293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Databricks Delta Lake (real POS + trade data)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340864"/>
            <a:ext cx="256032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36829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Inference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2340864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23682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39C12"/>
                </a:solidFill>
              </a:rPr>
              <a:t>Anthropic API (direct)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340864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23682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Databricks AI Gateway → Azure AI Foundry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779776"/>
            <a:ext cx="256032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28072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Session Memory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2779776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2807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39C12"/>
                </a:solidFill>
              </a:rPr>
              <a:t>In-process Python dict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2779776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19" y="2807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Redis (or Engine session store)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218688"/>
            <a:ext cx="256032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2461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Data Access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3218688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46120" y="32461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39C12"/>
                </a:solidFill>
              </a:rPr>
              <a:t>Local SQLite file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3218688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19" y="32461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Databricks workspace per customer (row-level security)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657600"/>
            <a:ext cx="256032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685031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54680" y="3657600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46120" y="368503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39C12"/>
                </a:solidFill>
              </a:rPr>
              <a:t>API key (testgpt2026)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3657600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19" y="368503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Engine SSO / SAML (per-user brand/retailer scope)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096512"/>
            <a:ext cx="256032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12394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Multi-tenancy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54680" y="4096512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46120" y="41239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39C12"/>
                </a:solidFill>
              </a:rPr>
              <a:t>Single user context per session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79" y="4096512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89519" y="41239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One Databricks workspace per CPG customer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535424"/>
            <a:ext cx="256032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456285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Charts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54680" y="4535424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46120" y="45628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39C12"/>
                </a:solidFill>
              </a:rPr>
              <a:t>Vega-embed CDN (browser)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79" y="4535424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19" y="45628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Embedded in Glass UI (engine rendering layer)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974336"/>
            <a:ext cx="256032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50017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HITL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54680" y="4974336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46120" y="50017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39C12"/>
                </a:solidFill>
              </a:rPr>
              <a:t>/approve stub (logs only)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79" y="4974336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89519" y="50017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Full execution: email, issue assignment, publish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413248"/>
            <a:ext cx="256032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54406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Infographics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54680" y="5413248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46120" y="54406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39C12"/>
                </a:solidFill>
              </a:rPr>
              <a:t>Deferred — Gemini stub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98079" y="5413248"/>
            <a:ext cx="4251960" cy="4114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89519" y="54406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Gemini API via AI Gateway (P2, when approved)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Phases 1–3 complete · Step 4 next · Engine integration when prototype validates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2651760" cy="53035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97280"/>
            <a:ext cx="2651760" cy="36576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1155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Phase 1
Core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536192"/>
            <a:ext cx="2423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Working /chat agent end-to-end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SQLite + 8-table schema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Pre-computed metric store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5 chart types with Vega-Lite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Speed: ~10–20s responses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Chat UI with login + user selector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097280"/>
            <a:ext cx="2651760" cy="53035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097280"/>
            <a:ext cx="2651760" cy="36576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11155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Phase 2
Benchmark Intel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536192"/>
            <a:ext cx="2423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benchmark_reference table (9 configs)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supply_chain_weekly table (336 rows)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get_benchmark tool (4 tiers + action)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get_trend_analysis (L4/L13/L52W)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Line review risk signals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OOS escalation flags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097280"/>
            <a:ext cx="2651760" cy="53035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097280"/>
            <a:ext cx="2651760" cy="36576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1155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Phase 3
Memory +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1536192"/>
            <a:ext cx="2423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Multi-turn session memory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Pre-fetch brief (inject once)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History trimming (12 pairs)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Open Alerts sidebar panel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HITL Approval panel UI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YoY line chart + context rules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097280"/>
            <a:ext cx="2651760" cy="53035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1097280"/>
            <a:ext cx="2651760" cy="36576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1155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🔵 Step 4
Reactive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1536192"/>
            <a:ext cx="2423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flag_issue → persist to DB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send_for_approval → execute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POST /approve fully wired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Retailer prompt fragments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Per-user priority loading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D0D8EA"/>
                </a:solidFill>
              </a:rPr>
              <a:t>  Proactive alert scheduling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92240"/>
            <a:ext cx="11201400" cy="18288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Engine Integration Gate: validate TestGPT prototype with real CPG team → port agent to C#/.NET → wire Databricks AI Gateway → embed in Glass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Safety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</a:rPr>
              <a:t>Built-in guardrails at every layer — no mutations, no autonomous outbound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F"/>
                </a:solidFill>
              </a:rPr>
              <a:t>TestGPT  |  DecisionFrame AI  |  Confidential — Prototype / Synthetic Data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3566160" cy="29260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97280"/>
            <a:ext cx="356616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13385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🔒  Read-Only Enforcement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_assert_readonly() checks every SQL query before execution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Raises ValueError on any INSERT/UPDATE/DELETE/DROP/ALTER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No path for Claude to modify data even if it tries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All writes go through typed tool stubs (flag_issue, etc.)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097280"/>
            <a:ext cx="3566160" cy="29260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097280"/>
            <a:ext cx="356616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13385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👤  Human-in-the-Loop (HITL)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46304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send_for_approval required for ANY outbound action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Email, issue assignment, report publish — all gated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Approval panel previews action before execution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No autonomous sends or mutations ever execute without user click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097280"/>
            <a:ext cx="3566160" cy="292608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097280"/>
            <a:ext cx="356616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13385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🏷️  Synthetic Data Labeling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[SYNTHETIC DATA — DEMO ONLY] on all chat responses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Flag embedded at API response level (synthetic_data: true)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Cannot be disabled without code change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▸ Production switch: real data replaces seed, flag stays for audit 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06240"/>
            <a:ext cx="11201400" cy="32004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336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Production Governance (Engine Integration)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5486400" cy="548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617720"/>
            <a:ext cx="54864" cy="54864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5429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direct Anthropic API in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920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All inference routes through Databricks AI Gateway — keeps retailer POS + trade data inside governed perimeter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617720"/>
            <a:ext cx="5486400" cy="548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617720"/>
            <a:ext cx="54864" cy="54864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65429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One Databricks workspace per 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8920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Data isolation at infrastructure level; no cross-customer data access possible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257800"/>
            <a:ext cx="5486400" cy="548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257800"/>
            <a:ext cx="54864" cy="54864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29437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Brand/retailer scope in auth token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5321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retailer_scope + brand_scope enforced at DB query level — not in LLM prompt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5257800"/>
            <a:ext cx="5486400" cy="548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5257800"/>
            <a:ext cx="54864" cy="54864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29437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Req #23 (Engine-7B fine-tuning) deferred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5321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A"/>
                </a:solidFill>
              </a:rPr>
              <a:t>Validate base Claude model first; fine-tuning only if base model insufficient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TestGPT — Where We 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F"/>
                </a:solidFill>
              </a:rPr>
              <a:t>Prototype validated · Phase 1/2/3 complete · Ready for CPG team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7315200" cy="29260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44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7178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  ✓  Working conversational agent — ask any question, get expert Walmart narrative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  ✓  11 tools: metric store, benchmarks, trend analysis, supply chain, HITL, charts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  ✓  Deep Walmart semantic layer: buying cycle, OTIF penalties, velocity benchmarks, OOS thresholds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  ✓  Multi-turn memory: pre-fetch brief, context resolution, history trimming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  ✓  Proactive alerts: open KPI alert panel with click-to-ask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  ✓  Vega-Lite charts: auto-type detection, horizontal bar, YoY line, dark theme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  ✓  Full safety layer: read-only DB, HITL gates, synthetic data labeling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D0D8EA"/>
                </a:solidFill>
              </a:rPr>
              <a:t>  ✓  25/25 QA tests passing · Live at testgpt.srv1445355.hstgr.cloud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325880"/>
            <a:ext cx="3657600" cy="292608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44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⏭ 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 b="0">
                <a:solidFill>
                  <a:srgbClr val="D0D8EA"/>
                </a:solidFill>
              </a:rPr>
              <a:t>  →  Step 4: Reactive Agents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D0D8EA"/>
                </a:solidFill>
              </a:rPr>
              <a:t>  →  flag_issue → DB persist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D0D8EA"/>
                </a:solidFill>
              </a:rPr>
              <a:t>  →  send_for_approval → execute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D0D8EA"/>
                </a:solidFill>
              </a:rPr>
              <a:t>  →  CPG team review session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D0D8EA"/>
                </a:solidFill>
              </a:rPr>
              <a:t>  →  Engine integration plan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D0D8EA"/>
                </a:solidFill>
              </a:rPr>
              <a:t>  →  Port to C#/.NET (production)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52160"/>
            <a:ext cx="11064240" cy="6858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F"/>
                </a:solidFill>
              </a:rPr>
              <a:t>testgpt.srv1445355.hstgr.cloud  |  password: testgpt2026  |  DecisionFrame AI  —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